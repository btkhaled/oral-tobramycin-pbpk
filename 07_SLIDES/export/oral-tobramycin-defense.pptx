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Oral Tobramycin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CC3E4"/>
                </a:solidFill>
              </a:rPr>
              <a:t>From BCS III to a Viable Oral Formulation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</a:rPr>
              <a:t>A bibliographic study with PBPK modeling in PK-Sim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</a:rPr>
              <a:t>and multi-objective formulation optimization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Khaled Ben Taieb — Personal research — September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263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2A8"/>
                </a:solidFill>
              </a:rPr>
              <a:t>repository: oral-tobramycin-pbpk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An essential antibiotic locked out of the oral route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2A3A"/>
                </a:solidFill>
              </a:rPr>
              <a:t>Tobramycin: WHO-essential aminoglycoside — first-line against Pseudomonas aeruginosa (CF, HAP, UTI)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2A3A"/>
                </a:solidFill>
              </a:rPr>
              <a:t>Available only IV and inhaled — no oral formulation exists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2A3A"/>
                </a:solidFill>
              </a:rPr>
              <a:t>Oral bioavailability ≈ 1–2 % — assumed BCS class IV for decades</a:t>
            </a:r>
            <a:endParaRPr lang="en-US" sz="1900" dirty="0"/>
          </a:p>
          <a:p>
            <a:pPr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900" dirty="0">
                <a:solidFill>
                  <a:srgbClr val="1A2A3A"/>
                </a:solidFill>
              </a:rPr>
              <a:t>Clinical burden: hospitalization, catheters, access inequity in low-resource settings</a:t>
            </a:r>
            <a:endParaRPr lang="en-US" sz="1900" dirty="0"/>
          </a:p>
          <a:p>
            <a:pPr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900" dirty="0">
                <a:solidFill>
                  <a:srgbClr val="1A2A3A"/>
                </a:solidFill>
              </a:rPr>
              <a:t>The wrong assumption ("low solubility AND low permeability") drives the wrong toolbox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2A3A"/>
                </a:solidFill>
              </a:rPr>
              <a:t>Research question: can a validated computational path unlock oral tobramycin?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Finding 1 — It is BCS Class III, not IV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Solubility is never the limiting factor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Solubility (water)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94–100 mg/mL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highest dose soluble in ≤250 mL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Dose margin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20–200×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BCS 'high' threshold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Papp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&lt; 1×10⁻⁶ cm/s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class III boundary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Oral F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≈ 1–2 %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clinical evidence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A3A"/>
                </a:solidFill>
              </a:rPr>
              <a:t>Explicit statement — Asad 2023 (PLoS ONE): </a:t>
            </a:r>
            <a:endParaRPr lang="en-US" sz="1700" dirty="0"/>
          </a:p>
          <a:p>
            <a:pPr indent="0" marL="0">
              <a:buNone/>
            </a:pPr>
            <a:r>
              <a:rPr lang="en-US" sz="2000" b="1" i="1" dirty="0">
                <a:solidFill>
                  <a:srgbClr val="005493"/>
                </a:solidFill>
              </a:rPr>
              <a:t>“Tobramycin (TOB) is a BCS class III drug”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2A3A"/>
                </a:solidFill>
              </a:rPr>
              <a:t>Consequence: a permeability-only problem → solubility technologies are unnecessary → the toolbox is permeability enhancement.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The Permeability Toolbox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Five validated levers, one 10-gene chromosome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 lever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HIP — hydrophobic ion pairing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1500× logP shift (Asad 2023)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gene 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SEDDS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spontaneous emulsification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genes 3–5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Nanoparticles (PLGA/chitosan)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MIC maintained (Hill 2019)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genes 2, 7, 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PE — sodium caprate C₁₀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clinical safety record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gene 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Enteric coating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standard technology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gene 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493"/>
                </a:solidFill>
              </a:rPr>
              <a:t>The optimization question: which combination, at what dose, attains antibacterial exposure targets?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The Enhancement Model — Cited, Bounded, Emergent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No free multiplier: 7 factors × 2 anchors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HIP logP' (Asad 2023)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10^((logP+2.9)·K), gene capped +1.6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20x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SEDDS fraction (Muhammad 2022)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min(1.6, sum/100)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1.6x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Nanoparticle size (Hill 2019)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1+0.5·exp(-(size-50)/150)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1.5x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C10 loading (Maher 2009)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1+0.6·(pe/50)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1.6x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Polymer (Bohley 2024)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1+0.3·(pl/30)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1.3x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Chitosan / enteric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x1.15 / x1.10 if 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1.27x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493"/>
                </a:solidFill>
              </a:rPr>
              <a:t>Anchors: native P_int0 = 3e-9 (F = 1.75 %) · nominal x20 platform — emergent maximum x126.3, optimizer attains x125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Two-Phase Computational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One optimization logic, two engines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Phase I — Exploratory engine (pure R, Chapters 3 &amp; 5)</a:t>
            </a:r>
            <a:endParaRPr lang="en-US" sz="1700" dirty="0"/>
          </a:p>
          <a:p>
            <a:pPr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1A2A3A"/>
                </a:solidFill>
              </a:rPr>
              <a:t>2-compartment PK + GI transit + Hill PD + 8-factor bioavailability model</a:t>
            </a:r>
            <a:endParaRPr lang="en-US" sz="1700" dirty="0"/>
          </a:p>
          <a:p>
            <a:pPr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1A2A3A"/>
                </a:solidFill>
              </a:rPr>
              <a:t>GA (100×200) + NSGA-II (200×300); MC n=200, CV n=26, OAT</a:t>
            </a:r>
            <a:endParaRPr lang="en-US" sz="1700" dirty="0"/>
          </a:p>
          <a:p>
            <a:pPr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1A2A3A"/>
                </a:solidFill>
              </a:rPr>
              <a:t>Result: 34 % platform, top-10 formulations, manufacturing $4.30/dose (grade B)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Phase II — PK-Sim platform (Chapters 4, 6, 7)</a:t>
            </a:r>
            <a:endParaRPr lang="en-US" sz="1700" dirty="0"/>
          </a:p>
          <a:p>
            <a:pPr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1A2A3A"/>
                </a:solidFill>
              </a:rPr>
              <a:t>Whole-body PBPK built from the validated amikacin model (OSP Library)</a:t>
            </a:r>
            <a:endParaRPr lang="en-US" sz="1700" dirty="0"/>
          </a:p>
          <a:p>
            <a:pPr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1A2A3A"/>
                </a:solidFill>
              </a:rPr>
              <a:t>Gate-validated vs clinical data — 6/6; calibrated oral transfer function</a:t>
            </a:r>
            <a:endParaRPr lang="en-US" sz="1700" dirty="0"/>
          </a:p>
          <a:p>
            <a:pPr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700" dirty="0">
                <a:solidFill>
                  <a:srgbClr val="1A2A3A"/>
                </a:solidFill>
              </a:rPr>
              <a:t>In-the-loop NSGA-II: ~6,100 native evaluations (pop 100, converged gen 60)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3"/>
                </a:solidFill>
              </a:rPr>
              <a:t>Cross-validation between engines: 34.0 % vs 34.6 % at the same multiplier (Δ 1.9 % relative) — hypothesis H5 supported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54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Phase II — Building the PK-Sim Platform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</a:rPr>
              <a:t>The engineering story: crash → root cause → fix → validated model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The macOS Crash — OSPSuite-R issue #1622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Symptom → crash report → root cause → fix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2A3A"/>
                </a:solidFill>
              </a:rPr>
              <a:t>Symptom: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A3A"/>
                </a:solidFill>
              </a:rPr>
              <a:t>loadProjectFromSnapshot() → SIGSEGV on macOS (wrapper hard-blocks Darwin)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2A3A"/>
                </a:solidFill>
              </a:rPr>
              <a:t>Crash report (.ips, faulting thread):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SQLite.Interop.dylib: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sqlite3_log ← lookupName ← resolveExprStep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sqlite3ViewGetColumnNames ↔ selectExpander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(~90 inlined frames — stack overflow)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Root cause: SQLite view-name resolution overflows the .NET worker-thread stack while emitting a warning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Fix: materialize all 91 views into tables (static template data; content preserved) — patch_pksimdb.py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Result: PK-Sim runs natively on macOS — conversion, simulations, PKML export, populations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Upstream: issue #1622, fix scheduled v13; workaround reusable by the community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Model Build — Amikacin → Tobramycin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No published tobramycin PK-Sim model exists (structured search: 0 results)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Molecular weight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467.515 g/mol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PubChem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logP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−2.9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native drug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Fraction unbound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0.95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minimal binding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Solubility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94 mg/mL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never limiting (BCS III)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pKa (bases)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7.7, 7.8, 9.1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3 of 5 amines — platform limit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Renal process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GFR fraction 1.0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purely renal clearance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60020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392B"/>
                </a:solidFill>
              </a:rPr>
              <a:t>Silent traps found &amp; fixed (Ch. 4):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renal process matched by name — renaming breaks clearance silently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simulation-level altered parameters override building blocks (infusion 4→30 min)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formulation type = Formulation_Dissolved, linked in the simulation's protocol selection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units are base units: dose in kg, gastric emptying in minutes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IV Validation Gate — 6/6 PASS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577.5 mg (7 mg/kg), 30-min infusion, 82.5-kg volunteer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PK-Sim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Published target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Hartford peak (30 min post-inf)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25.3 mg/L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20–30 mg/L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Cmax end of infusion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34.8 mg/L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20–35 (V1 envelope)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AUC24 → implied CL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102.5 → 5.63 L/h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CL 3.27–6.03 (Li 2021)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Trough 24 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0.033 mg/L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&lt; 1 mg/L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t½ NCA effective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2.29 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2.0–3.0 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Renal excretion 24 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99.4 %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&gt; 90 %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ublic/val_iv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554480"/>
            <a:ext cx="3931920" cy="4023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493"/>
                </a:solidFill>
              </a:rPr>
              <a:t>The model reproduces the published clinical envelope — validated substrate for the oral program.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Two Windows, One Truth — F24 vs F96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Flip-flop kinetics forces the distinction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24-h window (F24)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96-h window (F96)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Native (x1)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1.75 % — calibration to clinical 1-2 %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3.5 % — extent incl. flip-flop tail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Nominal platform (x20)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34.6 % (legacy cross-check 34.0 %)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~49 %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Winner (x125)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91.6 %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97.1 %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</a:rPr>
              <a:t>Clinical 1–2 % is a 24-h-era estimate: calibration uses F24, extent claims use F96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</a:rPr>
              <a:t>Both conventions reported side by side throughout — no hidden window switches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The Oral Transfer Function F(P_int)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Calibrated, not fitted silently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pic>
        <p:nvPicPr>
          <p:cNvPr id="7" name="Image 0" descr="public/s02_calib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68096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554480"/>
            <a:ext cx="3291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Native PK-Sim P_int for logP −2.9: ~0 (correlation saturates; paracellular off by default)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Calibrated baseline: P_int₀ = 3×10⁻⁹ dm/min → F₀ = 1.75 % (clinical 1–2 %)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Extent curve (96 h) saturates past ×100; 24-h window saturates earlier — both conventions reported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Every GA candidate = an emergent multiplier on P_int₀ — 7 cited factors, max ×125 (measured logP cap)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Physiological Studies — S01…S05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All PK-Sim-native, batch-executed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Design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result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S01 — IV × renal (20 scenarios)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doses × CLCR 30–150 mL/min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CL 1.83 → 7.18 L/h; trough 3.0 at CLCR 30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S03 — Virtual population (n=100)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ICRP 2002, nominal ×20 platform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Cmax/MIC median 4.5 [1.4–13.2]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S04 — Elasticities (±20 %)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P_int, dose, GFR, f_u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P_int +0.95 Cmax; GFR −0.84 AUC; f_u −0.88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S05 — Food effect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GET 15 vs 60 min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Cmax −20 %, extent unchanged (BCS III)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ublic/s04_elasticit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1760" y="4480560"/>
            <a:ext cx="68580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S06 — Flip-Flop Kinetics &amp; the Nominal Limit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A genuine kinetic discovery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Single oral dose: terminal decline is absorption-rate-limited — C(24 h) = 0.72 mg/L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→ steady-state superposition requires a 96 h window (flip-flop kinetics)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Nominal platform (×20) at 550–600 mg: AUC_ss/MIC ≤ 50 — map shows attainment from 993 mg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QD 550: Cmax_ss 5.4, AUC_ss 49.6 — BID 275: 3.4 / 24.2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Conclusion: the optimization must push the platform further</a:t>
            </a:r>
            <a:endParaRPr lang="en-US" sz="1700" dirty="0"/>
          </a:p>
        </p:txBody>
      </p:sp>
      <p:pic>
        <p:nvPicPr>
          <p:cNvPr id="8" name="Image 0" descr="public/s06_fraction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737360"/>
            <a:ext cx="49377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The Requirement Map — S08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What a real formulation must deliver, dose by dose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pic>
        <p:nvPicPr>
          <p:cNvPr id="7" name="Image 0" descr="public/s08_requirement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31520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1554480"/>
            <a:ext cx="3566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x20 at 993 mg: BOTH targets met (9.7 / 93.5) — the nominal multiplier suffices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Beyond x33: buys dose reduction, not new attainment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x125 ceiling: same targets at 467 mg — troughs at the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Tiered, falsifiable: &gt;=x20 for targets · x125 max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In-the-Loop NSGA-II — Converged at Generation 60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One SimulationBatch per generation; seed 42; cited-bounds enhancement model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  <a:gridCol w="1508760"/>
                <a:gridCol w="1508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best F96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best Cmax/MIC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median dose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92.2 %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20.4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834 mg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96.6 %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30.2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1000 mg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60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97.1 %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31.2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1000 mg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0" y="164592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The front degenerates to the corner — exposure objectives are synergistic; only dose opposes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The finding: the optimum sits at the cited-bounds corner (×125) — the best the evidence supports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The clinically relevant question shifts: what is the minimal dose that still attains the targets?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</a:rPr>
              <a:t>The degeneracy is itself a finding — answered by the winner's dose scan (next).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The Winner — TOBP-001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1000 mg once daily · P_int ×125 (cited max) · F96 = 97.1 %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164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Regimen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Cmax_ss/MIC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AUC_ss/MIC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Cmin_ss (mg/L)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QD 250 (minimal peak dose)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8.0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~43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~0.4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QD 1000 (winner)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32.2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172.3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BID 500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17.6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172.2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2.34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5720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05493"/>
                </a:solidFill>
              </a:rPr>
              <a:t>AUC/MIC = 172 — ABOVE the 80–120 IV target band (in-band from 467 mg)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Minimal target-attaining dose: 250 mg QD (Cmax/MIC = 8.0)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A3A"/>
                </a:solidFill>
              </a:rPr>
              <a:t>Population (n=100): Cmax/MIC 40.9 [15.8–88.8] PTA 100 % · AUC/MIC 238, PTA≥80: 97 %</a:t>
            </a:r>
            <a:endParaRPr lang="en-US" sz="1700" dirty="0"/>
          </a:p>
        </p:txBody>
      </p:sp>
      <p:pic>
        <p:nvPicPr>
          <p:cNvPr id="9" name="Image 0" descr="public/S07_winner_popu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600200"/>
            <a:ext cx="411480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A"/>
                </a:solidFill>
              </a:rPr>
              <a:t>Virtual population — 100 % peak attainment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Formulation Identity Card — TOBP-001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Decoded chromosome: what the pharmacist must manufacture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HIP complex (ion pairing)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apparent logP' = +1.6 (measured complex; lit. 1500x shift)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Nanoparticle platform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polymer NPs, particle size ≈ 50 nm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SEDDS 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surfactant-rich ceiling: 60% / 29% co / 70% oil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Permeation enhancer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sodium caprate (C10) 50 mM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Mucoadhesive polymer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29.3% loading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Coatings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chitosan (TJ modulation) + enteric HPMC-AS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Dose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1000 mg once daily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PK-Sim implementation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P_int override 3.75e-7 dm/min = ×125 (cited max)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ublic/S07_winner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554480"/>
            <a:ext cx="402336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0" y="48463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A"/>
                </a:solidFill>
              </a:rPr>
              <a:t>Single dose: F96 97.1% | Cmax 31.2 mg/L | AUC96 172.3 — flip-flop tail visible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One Platform, Three Operating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Identity-card comparison (steady state, MIC 1 mg/L)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Card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Dose (mg)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P_int mult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F96 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Cmax_ss/MIC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AUC_ss/MIC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Cmin_ss (mg/L)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TOBP-001 (winner)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1000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×125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97.1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32.2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172.3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1.21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TOBP-250 (sparing)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250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×125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~96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8.0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~43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~0.4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TOB-161-A (legacy)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550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×73.9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89.3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13.6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87.3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1.05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2062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</a:rPr>
              <a:t>Card 1 answers "what is the ceiling" — near-IV exposure (AUC/MIC 172 &gt; 80–120)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</a:rPr>
              <a:t>Card 2 answers "what is the minimum" — a quarter of the dose still guards the peak (Cmax/MIC = 8)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</a:rPr>
              <a:t>Card 3 is the conservative platform the physiological studies characterized in depth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</a:rPr>
              <a:t>TDM selects the operating point per patient and per local MIC (PTA tables, Appendix N)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Two Candidates, One Battery — A vs 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Same model, same enhancement mapping, same 10-block protocol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TOB-161-A (legacy GA)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TOBP-001 (PK-Sim GA)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Multiplier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x73.9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x125.0 (cited max)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Dose QD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550.6 mg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1000 mg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F96 / F24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89.3 % / 77.9 %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97.1 % / 91.6 %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AUC_ss/MIC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87.3 (IN BAND)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172.3 (above; in-band from 467 mg)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Cmin_ss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1.05 mg/L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1.21 mg/L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Population PTA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95 % peak / 79 % 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100 % peak / 97 % 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Food effect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extent same, Cmax -31 %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extent same, Cmax -32 %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3"/>
                </a:solidFill>
              </a:rPr>
              <a:t>TOB-161-A: the conservative in-band option · TOBP-001: the upper design point — the space between is the experimental search interval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Target Attainment vs MIC — True 7-Day Dosing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Battery B5 block, both candidates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pic>
        <p:nvPicPr>
          <p:cNvPr id="7" name="Image 0" descr="public/battery_p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554480"/>
            <a:ext cx="96012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3"/>
                </a:solidFill>
              </a:rPr>
              <a:t>fT&gt;MIC 99.6 % at MIC 1 for both · TOBP-001 holds the peak to MIC 2, TOB-161-A to MIC 1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The Trade-Off — Trough Liability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The optimization inverts the clinical question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Both candidates sit AT the 1 mg/L line (QD troughs 1.05–1.21) — BID pushes above it (2.34)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The problem flips from "can we absorb enough?" to "how do we safely dose what we can now absorb?"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Clinical answer: QD regimens for trough safety; BID 500 for fT&gt;MIC 100% with TDM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Bayesian TDM is structural, not optional — the virtual population provides the prior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A3A"/>
                </a:solidFill>
              </a:rPr>
              <a:t>Food effect on the winner: Cmax −32 %, extent unchanged (F96 97.1/97.2 %) — dose away from meals</a:t>
            </a:r>
            <a:endParaRPr lang="en-US" sz="1700" dirty="0"/>
          </a:p>
        </p:txBody>
      </p:sp>
      <p:pic>
        <p:nvPicPr>
          <p:cNvPr id="8" name="Image 0" descr="public/S07_winner_p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73736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Uncertainty, Propagated — S09 Frontier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20,000 draws through the validated response curve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pic>
        <p:nvPicPr>
          <p:cNvPr id="7" name="Image 0" descr="public/S09_fronti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31520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1554480"/>
            <a:ext cx="3566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Per-component lognormal sigmas by evidence grade (A 0.10 · B 0.25 · C 0.40)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TOBP-001: F96 96 % [51–100] · AUC/MIC 172 [97–179] — robust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TOB-161-A: F96 88 % [35–100] · AUC 87 [39–99] — dose-limited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</a:rPr>
              <a:t>Not assumed away — quantified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Trust, Verified — Mass Balance &amp; True Dosing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The engine checks its own arithmetic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Simulated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AUC_tau = F·D/CL (TOB-161-A)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87.38 mg·h/L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87.25 (true 7-day QD)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0.15 % OK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AUC_tau = F·D/CL (TOBP-001)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172.20 mg·h/L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172.28 (true 7-day QD)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0.05 % OK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Superposition vs true dosing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49.6 (screening)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48.0 (true QD 550, x20)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~3 % OK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</a:rPr>
              <a:t>Repeated dosing = PKML Application replication (one Application_k per dose — exactly how PK-Sim represents it)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A"/>
                </a:solidFill>
              </a:rPr>
              <a:t>Screening sweeps may use superposition; headline values use true dosing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Cross-Platform Validation — Two Engines, One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Hypothesis H5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Legacy custom engine (Phase I)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PK-Sim 12.4 (Phase II)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Structure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2-ct ODEs + transit + Hill (RK4)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Whole-body PBPK (ACAT + GFR)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Baseline F₀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1.5–2.8 %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1.75 % (calibrated)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Platform F at ×20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34.0 %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34.6 %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Agreement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Δ = 0.6 pp — 1.9 % relative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493"/>
                </a:solidFill>
              </a:rPr>
              <a:t>Phase I was not discarded work — it was the hypothesis generator whose central number the definitive platform confirmed.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Clinical Regimens — From the Battery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QD for trough safety · BID for interval coverage · TDM structural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Regimen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Cmax_ss/MIC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AUC_ss/MIC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Cmin_ss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QD 250 (TOBP-001 platform)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8.0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~43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~0.4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peak guard, safest trough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QD 550.6 (TOB-161-A)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13.6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87.3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in-band, trough at 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QD 1000 (TOBP-001)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32.2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172.3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1.21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full exposure, TDM mandatory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BID 500 (TOBP-001)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17.6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172.2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2.34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A3A"/>
                          </a:solidFill>
                        </a:rPr>
                        <a:t>fT 100%, trough above 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3"/>
                </a:solidFill>
              </a:rPr>
              <a:t>Renal impairment CLCR 100 to 20: AUC x3.4–3.5 — dose adaptation mandatory, as with IV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493"/>
                </a:solidFill>
              </a:rPr>
              <a:t>Roadmap — Experimental De-Risking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505(b)(2) · ~7 years · ~$4.8 M · manufacturing grade B ≈ $4.30/dose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011680" cy="45720"/>
          </a:xfrm>
          <a:prstGeom prst="rect">
            <a:avLst/>
          </a:prstGeom>
          <a:solidFill>
            <a:srgbClr val="00549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oral-tobramycin-pbpk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9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0–6 months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Caco-2/Ussing permeability of the HIP complex — the direct ×20/×125 test; prototype capsule + release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6–12 months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Rat/dog oral PK with model refinement; GLP toxicology of the full platform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1–3 years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Phase I SAD/food-effect → Phase II CF outpatients under Bayesian TDM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Regulatory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A3A"/>
                          </a:solidFill>
                        </a:rPr>
                        <a:t>FDA 505(b)(2); precedent: oral SNAC platforms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</a:rPr>
              <a:t>The ×125 ceiling is what the evidence permits, not what it guarantees — each tier is falsifiable.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B1E3"/>
                </a:solidFill>
              </a:rPr>
              <a:t>Bottom 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An IV-only essential antibiotic now has a validated computational path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to oral administration — with named regimens, quantified exposure,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honest trade-offs, and a costed de-risking program.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9CC3E4"/>
                </a:solidFill>
              </a:rPr>
              <a:t>250 mg — the dose that guards the peak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9CC3E4"/>
                </a:solidFill>
              </a:rPr>
              <a:t>1000 mg — the dose that rivals the intravenous bag (AUC/MIC 172)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9CC3E4"/>
                </a:solidFill>
              </a:rPr>
              <a:t>TDM — the driver's seat (troughs at the line, managed by monitoring)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 — Questions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 Tobramycin: From BCS III to a Viable Oral Formulation</dc:title>
  <dc:subject>PptxGenJS Presentation</dc:subject>
  <dc:creator>Khaled Ben Taieb</dc:creator>
  <cp:lastModifiedBy>Khaled Ben Taieb</cp:lastModifiedBy>
  <cp:revision>1</cp:revision>
  <dcterms:created xsi:type="dcterms:W3CDTF">2026-09-04T10:11:19Z</dcterms:created>
  <dcterms:modified xsi:type="dcterms:W3CDTF">2026-09-04T10:11:19Z</dcterms:modified>
</cp:coreProperties>
</file>